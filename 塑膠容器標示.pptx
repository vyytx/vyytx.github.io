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Average"/>
      <p:regular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swald-regular.fntdata"/><Relationship Id="rId6" Type="http://schemas.openxmlformats.org/officeDocument/2006/relationships/slide" Target="slides/slide2.xml"/><Relationship Id="rId18" Type="http://schemas.openxmlformats.org/officeDocument/2006/relationships/font" Target="fonts/Average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Shape 12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Shape 1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Shape 16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hape 10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Shape 11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and 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and two 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Shape 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One column 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Shape 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in 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title and 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Shape 4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Shape 42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Shape 43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ig 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1" name="Shape 5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自訂版面配置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Shape 57"/>
          <p:cNvSpPr/>
          <p:nvPr/>
        </p:nvSpPr>
        <p:spPr>
          <a:xfrm flipH="1">
            <a:off x="3225000" y="1448425"/>
            <a:ext cx="5919000" cy="36951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Shape 58"/>
          <p:cNvSpPr/>
          <p:nvPr/>
        </p:nvSpPr>
        <p:spPr>
          <a:xfrm flipH="1">
            <a:off x="3397800" y="1448425"/>
            <a:ext cx="5746200" cy="3695100"/>
          </a:xfrm>
          <a:prstGeom prst="rtTriangl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Shape 59"/>
          <p:cNvSpPr/>
          <p:nvPr/>
        </p:nvSpPr>
        <p:spPr>
          <a:xfrm flipH="1">
            <a:off x="3836700" y="1448475"/>
            <a:ext cx="5307300" cy="3695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Shape 60"/>
          <p:cNvSpPr txBox="1"/>
          <p:nvPr>
            <p:ph type="ctrTitle"/>
          </p:nvPr>
        </p:nvSpPr>
        <p:spPr>
          <a:xfrm>
            <a:off x="335250" y="932100"/>
            <a:ext cx="5508300" cy="1655700"/>
          </a:xfrm>
          <a:prstGeom prst="rect">
            <a:avLst/>
          </a:prstGeom>
          <a:noFill/>
        </p:spPr>
        <p:txBody>
          <a:bodyPr anchorCtr="0" anchor="b" bIns="91425" lIns="91425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1"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" type="subTitle"/>
          </p:nvPr>
        </p:nvSpPr>
        <p:spPr>
          <a:xfrm>
            <a:off x="335250" y="2727850"/>
            <a:ext cx="3914700" cy="1612500"/>
          </a:xfrm>
          <a:prstGeom prst="rect">
            <a:avLst/>
          </a:prstGeom>
          <a:noFill/>
        </p:spPr>
        <p:txBody>
          <a:bodyPr anchorCtr="0" anchor="t" bIns="91425" lIns="91425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000">
                <a:solidFill>
                  <a:schemeClr val="lt1"/>
                </a:solidFill>
              </a:rPr>
              <a:t>‹#›</a:t>
            </a:fld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自訂版面配置 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深色背景，左邊是藍綠色梯形" id="64" name="Shape 64" title="藍綠色梯形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-3"/>
            <a:ext cx="91440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Shape 65"/>
          <p:cNvSpPr txBox="1"/>
          <p:nvPr>
            <p:ph type="title"/>
          </p:nvPr>
        </p:nvSpPr>
        <p:spPr>
          <a:xfrm>
            <a:off x="3868225" y="406900"/>
            <a:ext cx="4482600" cy="1537200"/>
          </a:xfrm>
          <a:prstGeom prst="rect">
            <a:avLst/>
          </a:prstGeom>
          <a:noFill/>
        </p:spPr>
        <p:txBody>
          <a:bodyPr anchorCtr="0" anchor="b" bIns="91425" lIns="91425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3868318" y="2053723"/>
            <a:ext cx="4482600" cy="2378100"/>
          </a:xfrm>
          <a:prstGeom prst="rect">
            <a:avLst/>
          </a:prstGeom>
          <a:noFill/>
        </p:spPr>
        <p:txBody>
          <a:bodyPr anchorCtr="0" anchor="t" bIns="91425" lIns="91425" rIns="91425" wrap="square" tIns="91425"/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000">
                <a:solidFill>
                  <a:srgbClr val="FFFFFF"/>
                </a:solidFill>
              </a:rPr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自訂版面配置 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Shape 70"/>
          <p:cNvCxnSpPr/>
          <p:nvPr/>
        </p:nvCxnSpPr>
        <p:spPr>
          <a:xfrm>
            <a:off x="393910" y="2899950"/>
            <a:ext cx="24798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Shape 71"/>
          <p:cNvSpPr txBox="1"/>
          <p:nvPr>
            <p:ph type="title"/>
          </p:nvPr>
        </p:nvSpPr>
        <p:spPr>
          <a:xfrm>
            <a:off x="304800" y="477850"/>
            <a:ext cx="5590200" cy="2193600"/>
          </a:xfrm>
          <a:prstGeom prst="rect">
            <a:avLst/>
          </a:prstGeom>
          <a:noFill/>
        </p:spPr>
        <p:txBody>
          <a:bodyPr anchorCtr="0" anchor="b" bIns="91425" lIns="91425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304800" y="3033700"/>
            <a:ext cx="8512500" cy="1539300"/>
          </a:xfrm>
          <a:prstGeom prst="rect">
            <a:avLst/>
          </a:prstGeom>
          <a:noFill/>
        </p:spPr>
        <p:txBody>
          <a:bodyPr anchorCtr="0" anchor="t" bIns="91425" lIns="91425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000">
                <a:solidFill>
                  <a:srgbClr val="FFFFFF"/>
                </a:solidFill>
              </a:rPr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自訂版面配置 2">
    <p:bg>
      <p:bgPr>
        <a:solidFill>
          <a:srgbClr val="37474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Shape 76"/>
          <p:cNvSpPr/>
          <p:nvPr/>
        </p:nvSpPr>
        <p:spPr>
          <a:xfrm>
            <a:off x="0" y="0"/>
            <a:ext cx="4568400" cy="5143500"/>
          </a:xfrm>
          <a:prstGeom prst="rect">
            <a:avLst/>
          </a:pr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Shape 77"/>
          <p:cNvSpPr/>
          <p:nvPr/>
        </p:nvSpPr>
        <p:spPr>
          <a:xfrm>
            <a:off x="6795047" y="584570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Shape 78"/>
          <p:cNvSpPr/>
          <p:nvPr/>
        </p:nvSpPr>
        <p:spPr>
          <a:xfrm>
            <a:off x="6795047" y="4415195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Shape 79"/>
          <p:cNvCxnSpPr/>
          <p:nvPr/>
        </p:nvCxnSpPr>
        <p:spPr>
          <a:xfrm>
            <a:off x="4895600" y="656926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Shape 80"/>
          <p:cNvCxnSpPr/>
          <p:nvPr/>
        </p:nvCxnSpPr>
        <p:spPr>
          <a:xfrm>
            <a:off x="4895600" y="4487700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Shape 81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  <a:noFill/>
        </p:spPr>
        <p:txBody>
          <a:bodyPr anchorCtr="0" anchor="ctr" bIns="91425" lIns="91425" rIns="91425" wrap="square" tIns="914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  <a:noFill/>
        </p:spPr>
        <p:txBody>
          <a:bodyPr anchorCtr="0" anchor="ctr" bIns="91425" lIns="91425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000">
                <a:solidFill>
                  <a:srgbClr val="FFFFFF"/>
                </a:solidFill>
              </a:rPr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>
            <p:ph type="ctrTitle"/>
          </p:nvPr>
        </p:nvSpPr>
        <p:spPr>
          <a:xfrm>
            <a:off x="335250" y="932100"/>
            <a:ext cx="5508300" cy="16557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塑膠容器標示</a:t>
            </a:r>
            <a:endParaRPr/>
          </a:p>
        </p:txBody>
      </p:sp>
      <p:sp>
        <p:nvSpPr>
          <p:cNvPr id="89" name="Shape 89"/>
          <p:cNvSpPr txBox="1"/>
          <p:nvPr>
            <p:ph idx="1" type="subTitle"/>
          </p:nvPr>
        </p:nvSpPr>
        <p:spPr>
          <a:xfrm>
            <a:off x="335250" y="2727850"/>
            <a:ext cx="3914700" cy="16125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組員:胡傑凱、張信富、莊程智、楊豐宇、高玉錚</a:t>
            </a:r>
            <a:endParaRPr/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x="3868225" y="406900"/>
            <a:ext cx="4482600" cy="15372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何謂塑膠容器?</a:t>
            </a:r>
            <a:endParaRPr/>
          </a:p>
        </p:txBody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3868318" y="2053723"/>
            <a:ext cx="4482600" cy="2378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zh-TW" sz="2000"/>
              <a:t>生活中有許多的容器都是塑膠材質，這些容器上都會有數字，分別代表不同的塑膠材質，方便在回收作業時分辨材質差異。而這些就是所謂的塑膠容器。</a:t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/>
          <p:nvPr>
            <p:ph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容器標示</a:t>
            </a:r>
            <a:endParaRPr/>
          </a:p>
        </p:txBody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例:寶特瓶</a:t>
            </a:r>
            <a:endParaRPr sz="2400"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zh-TW" sz="2400"/>
              <a:t>質地輕巧，但耐熱度差，空瓶最好不要再注入熱水，否則瓶身會變形。</a:t>
            </a:r>
            <a:endParaRPr sz="2400"/>
          </a:p>
        </p:txBody>
      </p:sp>
      <p:pic>
        <p:nvPicPr>
          <p:cNvPr id="108" name="Shape 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50" y="544563"/>
            <a:ext cx="4054374" cy="4054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lt1"/>
                </a:solidFill>
              </a:rPr>
              <a:t>例:清潔劑、洗髮精、沐浴乳、食用油、農藥、罐裝咖啡、果汁牛奶。</a:t>
            </a:r>
            <a:endParaRPr sz="2400"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zh-TW" sz="2400"/>
              <a:t>可耐酸鹼。</a:t>
            </a:r>
            <a:endParaRPr sz="2400"/>
          </a:p>
        </p:txBody>
      </p:sp>
      <p:pic>
        <p:nvPicPr>
          <p:cNvPr id="115" name="Shape 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50" y="544563"/>
            <a:ext cx="4054374" cy="4054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zh-TW" sz="2400"/>
              <a:t>因</a:t>
            </a:r>
            <a:r>
              <a:rPr lang="zh-TW" sz="2400"/>
              <a:t>含有氯的成分，一直飽受爭議，雖然它本身無毒，但若不慎加熱到六十度以上，就會釋放有毒氣體。此外，如果沒有回收處理，被當成一般垃圾送進入焚化爐，還會產生戴奧辛，所以目前使用量越來越少。</a:t>
            </a:r>
            <a:endParaRPr sz="2400"/>
          </a:p>
        </p:txBody>
      </p:sp>
      <p:pic>
        <p:nvPicPr>
          <p:cNvPr id="122" name="Shape 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50" y="544563"/>
            <a:ext cx="4054374" cy="4054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例:塑膠袋</a:t>
            </a:r>
            <a:endParaRPr sz="2400"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zh-TW" sz="2400"/>
              <a:t>是應用最廣的塑膠，，因為僅耐熱到六十度，所以不適合小吃攤用來盛裝剛煮好的麵或熱湯。</a:t>
            </a:r>
            <a:endParaRPr sz="2400"/>
          </a:p>
        </p:txBody>
      </p:sp>
      <p:pic>
        <p:nvPicPr>
          <p:cNvPr id="129" name="Shape 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50" y="544563"/>
            <a:ext cx="4054374" cy="4054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Shape 135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lt1"/>
                </a:solidFill>
              </a:rPr>
              <a:t>例:微波容器、環保杯。</a:t>
            </a:r>
            <a:endParaRPr sz="2400"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zh-TW" sz="2400"/>
              <a:t>耐熱，最高可加熱到一百二十度上下。</a:t>
            </a:r>
            <a:endParaRPr sz="2400"/>
          </a:p>
        </p:txBody>
      </p:sp>
      <p:pic>
        <p:nvPicPr>
          <p:cNvPr id="136" name="Shape 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50" y="544563"/>
            <a:ext cx="4054374" cy="4054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例:</a:t>
            </a:r>
            <a:r>
              <a:rPr lang="zh-TW" sz="2400">
                <a:solidFill>
                  <a:schemeClr val="lt1"/>
                </a:solidFill>
              </a:rPr>
              <a:t>保麗龍、冰淇淋盒、保溫箱、熱飲杯和泡麵碗</a:t>
            </a:r>
            <a:endParaRPr sz="2400"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zh-TW" sz="2400"/>
              <a:t>吸水性低，有隔熱效果，但耐熱度只到九十度，不可倒入剛燒開的水。</a:t>
            </a:r>
            <a:endParaRPr sz="2400"/>
          </a:p>
        </p:txBody>
      </p:sp>
      <p:pic>
        <p:nvPicPr>
          <p:cNvPr id="143" name="Shape 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50" y="544563"/>
            <a:ext cx="4054374" cy="4054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zh-TW" sz="2400"/>
              <a:t>基本上指的是所有未包含在一到六號的其他材質，這些材質多半屬於工程級的高階材質，因為種類繁多，所以難以統一標示，也必須交由特定單位回收處理。</a:t>
            </a:r>
            <a:endParaRPr sz="2400"/>
          </a:p>
        </p:txBody>
      </p:sp>
      <p:pic>
        <p:nvPicPr>
          <p:cNvPr id="150" name="Shape 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50" y="544563"/>
            <a:ext cx="4054374" cy="4054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有色塑膠</a:t>
            </a:r>
            <a:endParaRPr/>
          </a:p>
        </p:txBody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zh-TW" sz="2400">
                <a:solidFill>
                  <a:srgbClr val="FFFFFF"/>
                </a:solidFill>
              </a:rPr>
              <a:t>塑膠工業技術發展中心</a:t>
            </a:r>
            <a:r>
              <a:rPr b="1" lang="zh-TW" sz="2400" u="sng">
                <a:solidFill>
                  <a:srgbClr val="FFFFFF"/>
                </a:solidFill>
              </a:rPr>
              <a:t>邱政文</a:t>
            </a:r>
            <a:r>
              <a:rPr lang="zh-TW" sz="2400">
                <a:solidFill>
                  <a:srgbClr val="FFFFFF"/>
                </a:solidFill>
              </a:rPr>
              <a:t>博士坦言：「以國內現有的標示，就算是專家，也很難挑選出真正安全的塑膠容器。」他只能建議民眾，選擇信賴的產地來源，以及瓶身呈原色、清亮透明或半白透明的產品，因為五顏六色的瓶身可能有染色劑等添加物。如果真的喜歡圖案豐富的漂亮瓶身，最好選擇內部素色、外層彩色的雙層設計。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環境問題</a:t>
            </a:r>
            <a:endParaRPr/>
          </a:p>
        </p:txBody>
      </p:sp>
      <p:sp>
        <p:nvSpPr>
          <p:cNvPr id="162" name="Shape 1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FFFF"/>
                </a:solidFill>
              </a:rPr>
              <a:t>其實只要妥善使用，並解決環保問題，塑膠特有的「潔淨」特性，確實為人類避免了許多傳染疾病的發生，「即使是陶製、瓷製餐具也會有添加物汙染的疑慮，而有孔隙的木、竹餐碗，也有上漆、滋生細菌的可能。」其實國內真正缺乏的是建立食品容器安全認證機制，政府應有所行動，讓人民享有安全無虞的生活飲食環境。</a:t>
            </a:r>
            <a:endParaRPr sz="2400">
              <a:solidFill>
                <a:srgbClr val="FFFFFF"/>
              </a:solidFill>
            </a:endParaRPr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/>
          <p:nvPr>
            <p:ph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謝謝大家</a:t>
            </a:r>
            <a:endParaRPr/>
          </a:p>
        </p:txBody>
      </p:sp>
      <p:sp>
        <p:nvSpPr>
          <p:cNvPr id="168" name="Shape 168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